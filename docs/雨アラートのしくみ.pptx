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13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A0D2FF"/>
                </a:solidFill>
                <a:latin typeface="Calibri"/>
                <a:ea typeface="Hiragino Sans"/>
              </a:rPr>
              <a:t>SwitchBot → 気象庁 →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240280"/>
            <a:ext cx="8412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  <a:ea typeface="Hiragino Sans"/>
              </a:rPr>
              <a:t>雨アラートのしくみ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500" b="0" i="0">
                <a:solidFill>
                  <a:srgbClr val="A0D2FF"/>
                </a:solidFill>
                <a:latin typeface="Calibri"/>
                <a:ea typeface="Hiragino Sans"/>
              </a:rPr>
              <a:t>自宅にゲリラ豪雨が近づいたらLINEで知らせ、毎朝6時には</a:t>
            </a:r>
          </a:p>
          <a:p>
            <a:pPr algn="l">
              <a:lnSpc>
                <a:spcPts val="2600"/>
              </a:lnSpc>
            </a:pPr>
            <a:r>
              <a:rPr sz="1500" b="0" i="0">
                <a:solidFill>
                  <a:srgbClr val="A0D2FF"/>
                </a:solidFill>
                <a:latin typeface="Calibri"/>
                <a:ea typeface="Hiragino Sans"/>
              </a:rPr>
              <a:t>その日の雨をグラフで送る。そのしくみと、9つのファイルの役割。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13294F"/>
          </a:solidFill>
          <a:ln w="12700">
            <a:solidFill>
              <a:srgbClr val="2C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A0D2FF"/>
                </a:solidFill>
                <a:latin typeface="Calibri"/>
                <a:ea typeface="Hiragino Sans"/>
              </a:rP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75488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13294F"/>
          </a:solidFill>
          <a:ln w="12700">
            <a:solidFill>
              <a:srgbClr val="2C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4754880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A0D2FF"/>
                </a:solidFill>
                <a:latin typeface="Calibri"/>
                <a:ea typeface="Hiragino Sans"/>
              </a:rPr>
              <a:t>GitHub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75488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13294F"/>
          </a:solidFill>
          <a:ln w="12700">
            <a:solidFill>
              <a:srgbClr val="2C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4754880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A0D2FF"/>
                </a:solidFill>
                <a:latin typeface="Calibri"/>
                <a:ea typeface="Hiragino Sans"/>
              </a:rPr>
              <a:t>LINE Messaging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41FF"/>
                </a:solidFill>
                <a:latin typeface="Calibri"/>
                <a:ea typeface="Hiragino Sans"/>
              </a:rPr>
              <a:t>01 — できること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D"/>
                </a:solidFill>
                <a:latin typeface="Calibri"/>
                <a:ea typeface="Hiragino Sans"/>
              </a:rPr>
              <a:t>このシステムがしてくれること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02152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1938528"/>
            <a:ext cx="420624" cy="420624"/>
          </a:xfrm>
          <a:prstGeom prst="ellipse">
            <a:avLst/>
          </a:prstGeom>
          <a:solidFill>
            <a:srgbClr val="00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Hiragin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41FF"/>
                </a:solidFill>
                <a:latin typeface="Courier New"/>
                <a:ea typeface="Hiragino Sans"/>
              </a:rPr>
              <a:t>5分ごと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6233D"/>
                </a:solidFill>
                <a:latin typeface="Calibri"/>
                <a:ea typeface="Hiragino Sans"/>
              </a:rPr>
              <a:t>豪雨をつかまえる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6324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0">
                <a:solidFill>
                  <a:srgbClr val="5C6884"/>
                </a:solidFill>
                <a:latin typeface="Calibri"/>
                <a:ea typeface="Hiragino Sans"/>
              </a:rPr>
              <a:t>自宅の半径1kmに強い雨が近づくと、降り出す前にLINEへ通知。弱い雨と激しい雨で文面が変わります。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502152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72583" y="193852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3" y="19385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Hiragino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011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7293"/>
                </a:solidFill>
                <a:latin typeface="Courier New"/>
                <a:ea typeface="Hiragino Sans"/>
              </a:rPr>
              <a:t>毎朝 6:00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257860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6233D"/>
                </a:solidFill>
                <a:latin typeface="Calibri"/>
                <a:ea typeface="Hiragino Sans"/>
              </a:rPr>
              <a:t>1日の雨をグラフで見る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3" y="306324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0">
                <a:solidFill>
                  <a:srgbClr val="5C6884"/>
                </a:solidFill>
                <a:latin typeface="Calibri"/>
                <a:ea typeface="Hiragino Sans"/>
              </a:rPr>
              <a:t>24時間ぶんの降水予報を棒グラフの画像にして送信。傘が要る日かが一目で分かります。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600200"/>
            <a:ext cx="3502152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9056" y="1938528"/>
            <a:ext cx="420624" cy="420624"/>
          </a:xfrm>
          <a:prstGeom prst="ellipse">
            <a:avLst/>
          </a:prstGeom>
          <a:solidFill>
            <a:srgbClr val="2C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19385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Hiragino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011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C5F7A"/>
                </a:solidFill>
                <a:latin typeface="Courier New"/>
                <a:ea typeface="Hiragino Sans"/>
              </a:rPr>
              <a:t>電源オフでもOK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57860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6233D"/>
                </a:solidFill>
                <a:latin typeface="Calibri"/>
                <a:ea typeface="Hiragino Sans"/>
              </a:rPr>
              <a:t>パソコンが要らない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06324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0">
                <a:solidFill>
                  <a:srgbClr val="5C6884"/>
                </a:solidFill>
                <a:latin typeface="Calibri"/>
                <a:ea typeface="Hiragino Sans"/>
              </a:rPr>
              <a:t>GitHubのサーバー上で動くため、自分のMacやスマホの電源が入っていなくても動き続けます。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59028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6884"/>
                </a:solidFill>
                <a:latin typeface="Calibri"/>
                <a:ea typeface="Hiragino Sans"/>
              </a:rPr>
              <a:t>もともとの出発点は「SwitchBotで何か作れないか」。自宅は動かないので、座標は一度調べれば十分でした。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41FF"/>
                </a:solidFill>
                <a:latin typeface="Calibri"/>
                <a:ea typeface="Hiragino Sans"/>
              </a:rPr>
              <a:t>02 — 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D"/>
                </a:solidFill>
                <a:latin typeface="Calibri"/>
                <a:ea typeface="Hiragino Sans"/>
              </a:rPr>
              <a:t>システム構成図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371600"/>
            <a:ext cx="5760720" cy="4096512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9FB0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54680" y="14630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884"/>
                </a:solidFill>
                <a:latin typeface="Courier New"/>
                <a:ea typeface="Hiragino Sans"/>
              </a:rPr>
              <a:t>GitHub Actions（クラウド上のサーバー）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75564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41FF"/>
                </a:solidFill>
                <a:latin typeface="Calibri"/>
                <a:ea typeface="Hiragino Sans"/>
              </a:rPr>
              <a:t>① 5分ごと ─ 豪雨アラート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54680" y="4206240"/>
            <a:ext cx="5486400" cy="0"/>
          </a:xfrm>
          <a:prstGeom prst="line">
            <a:avLst/>
          </a:prstGeom>
          <a:ln w="12700">
            <a:solidFill>
              <a:srgbClr val="C3CFE4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54680" y="429768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41FF"/>
                </a:solidFill>
                <a:latin typeface="Calibri"/>
                <a:ea typeface="Hiragino Sans"/>
              </a:rPr>
              <a:t>② 毎朝6時 ─ 予報グラフ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96596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FB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6233D"/>
                </a:solidFill>
                <a:latin typeface="Calibri"/>
                <a:ea typeface="Hiragino Sans"/>
              </a:rPr>
              <a:t>気象庁ナウキャスト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884"/>
                </a:solidFill>
                <a:latin typeface="Calibri"/>
                <a:ea typeface="Hiragino Sans"/>
              </a:rPr>
              <a:t>250mメッシュ / 5分更新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20440"/>
            <a:ext cx="196596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FB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6233D"/>
                </a:solidFill>
                <a:latin typeface="Calibri"/>
                <a:ea typeface="Hiragino Sans"/>
              </a:rPr>
              <a:t>Open-Meteo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884"/>
                </a:solidFill>
                <a:latin typeface="Calibri"/>
                <a:ea typeface="Hiragino Sans"/>
              </a:rPr>
              <a:t>世界の予報モデル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057400"/>
            <a:ext cx="2194560" cy="822960"/>
          </a:xfrm>
          <a:prstGeom prst="roundRect">
            <a:avLst>
              <a:gd name="adj" fmla="val 4000"/>
            </a:avLst>
          </a:prstGeom>
          <a:solidFill>
            <a:srgbClr val="E4ECFF"/>
          </a:solidFill>
          <a:ln w="19050">
            <a:solidFill>
              <a:srgbClr val="004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1854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31C0"/>
                </a:solidFill>
                <a:latin typeface="Courier New"/>
                <a:ea typeface="Hiragino Sans"/>
              </a:rPr>
              <a:t>jma_nowcast.py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9631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884"/>
                </a:solidFill>
                <a:latin typeface="Calibri"/>
                <a:ea typeface="Hiragino Sans"/>
              </a:rPr>
              <a:t>画像の色 → 雨量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57400"/>
            <a:ext cx="2194560" cy="822960"/>
          </a:xfrm>
          <a:prstGeom prst="roundRect">
            <a:avLst>
              <a:gd name="adj" fmla="val 4000"/>
            </a:avLst>
          </a:prstGeom>
          <a:solidFill>
            <a:srgbClr val="E4ECFF"/>
          </a:solidFill>
          <a:ln w="19050">
            <a:solidFill>
              <a:srgbClr val="004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854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31C0"/>
                </a:solidFill>
                <a:latin typeface="Courier New"/>
                <a:ea typeface="Hiragino Sans"/>
              </a:rPr>
              <a:t>rain_alert.py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49631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884"/>
                </a:solidFill>
                <a:latin typeface="Calibri"/>
                <a:ea typeface="Hiragino Sans"/>
              </a:rPr>
              <a:t>判定して送信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108960"/>
            <a:ext cx="1463040" cy="566928"/>
          </a:xfrm>
          <a:prstGeom prst="roundRect">
            <a:avLst>
              <a:gd name="adj" fmla="val 4000"/>
            </a:avLst>
          </a:prstGeom>
          <a:solidFill>
            <a:srgbClr val="E4ECFF"/>
          </a:solidFill>
          <a:ln w="19050">
            <a:solidFill>
              <a:srgbClr val="0041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2826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31C0"/>
                </a:solidFill>
                <a:latin typeface="Courier New"/>
                <a:ea typeface="Hiragino Sans"/>
              </a:rPr>
              <a:t>state.json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553712"/>
            <a:ext cx="2194560" cy="777240"/>
          </a:xfrm>
          <a:prstGeom prst="roundRect">
            <a:avLst>
              <a:gd name="adj" fmla="val 4000"/>
            </a:avLst>
          </a:prstGeom>
          <a:solidFill>
            <a:srgbClr val="E4ECFF"/>
          </a:solidFill>
          <a:ln w="19050">
            <a:solidFill>
              <a:srgbClr val="004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6817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31C0"/>
                </a:solidFill>
                <a:latin typeface="Courier New"/>
                <a:ea typeface="Hiragino Sans"/>
              </a:rPr>
              <a:t>daily_summary.py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9262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884"/>
                </a:solidFill>
                <a:latin typeface="Calibri"/>
                <a:ea typeface="Hiragino Sans"/>
              </a:rPr>
              <a:t>グラフを作る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2011680"/>
            <a:ext cx="21945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FB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214884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6233D"/>
                </a:solidFill>
                <a:latin typeface="Calibri"/>
                <a:ea typeface="Hiragino Sans"/>
              </a:rPr>
              <a:t>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4688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884"/>
                </a:solidFill>
                <a:latin typeface="Calibri"/>
                <a:ea typeface="Hiragino Sans"/>
              </a:rPr>
              <a:t>スマホに届く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4553712"/>
            <a:ext cx="219456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FB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46908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6233D"/>
                </a:solidFill>
                <a:latin typeface="Calibri"/>
                <a:ea typeface="Hiragino Sans"/>
              </a:rPr>
              <a:t>imgbb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501091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884"/>
                </a:solidFill>
                <a:latin typeface="Calibri"/>
                <a:ea typeface="Hiragino Sans"/>
              </a:rPr>
              <a:t>画像の置き場所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423160" y="2468880"/>
            <a:ext cx="777240" cy="0"/>
          </a:xfrm>
          <a:prstGeom prst="line">
            <a:avLst/>
          </a:prstGeom>
          <a:ln w="19050">
            <a:solidFill>
              <a:srgbClr val="6B7A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32304" y="2194560"/>
            <a:ext cx="758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C6884"/>
                </a:solidFill>
                <a:latin typeface="Calibri"/>
                <a:ea typeface="Hiragino Sans"/>
              </a:rPr>
              <a:t>タイル画像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94960" y="2468880"/>
            <a:ext cx="822960" cy="0"/>
          </a:xfrm>
          <a:prstGeom prst="line">
            <a:avLst/>
          </a:prstGeom>
          <a:ln w="19050">
            <a:solidFill>
              <a:srgbClr val="6B7A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13248" y="2194560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C6884"/>
                </a:solidFill>
                <a:latin typeface="Calibri"/>
                <a:ea typeface="Hiragino Sans"/>
              </a:rPr>
              <a:t>雨量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23160" y="3931920"/>
            <a:ext cx="3977640" cy="0"/>
          </a:xfrm>
          <a:prstGeom prst="line">
            <a:avLst/>
          </a:prstGeom>
          <a:ln w="19050">
            <a:solidFill>
              <a:srgbClr val="6B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400800" y="2880360"/>
            <a:ext cx="0" cy="1051560"/>
          </a:xfrm>
          <a:prstGeom prst="line">
            <a:avLst/>
          </a:prstGeom>
          <a:ln w="19050">
            <a:solidFill>
              <a:srgbClr val="6B7A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91840" y="3675887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C6884"/>
                </a:solidFill>
                <a:latin typeface="Calibri"/>
                <a:ea typeface="Hiragino Sans"/>
              </a:rPr>
              <a:t>15分ごとの予報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2880360"/>
            <a:ext cx="0" cy="228600"/>
          </a:xfrm>
          <a:prstGeom prst="line">
            <a:avLst/>
          </a:prstGeom>
          <a:ln w="19050">
            <a:solidFill>
              <a:srgbClr val="6B7A9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183879" y="3255264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C6884"/>
                </a:solidFill>
                <a:latin typeface="Calibri"/>
                <a:ea typeface="Hiragino Sans"/>
              </a:rPr>
              <a:t>通知履歴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12480" y="2468880"/>
            <a:ext cx="1051560" cy="0"/>
          </a:xfrm>
          <a:prstGeom prst="line">
            <a:avLst/>
          </a:prstGeom>
          <a:ln w="19050">
            <a:solidFill>
              <a:srgbClr val="6B7A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30768" y="2194560"/>
            <a:ext cx="1014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C6884"/>
                </a:solidFill>
                <a:latin typeface="Calibri"/>
                <a:ea typeface="Hiragino Sans"/>
              </a:rPr>
              <a:t>通知を送信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94960" y="4946904"/>
            <a:ext cx="4069080" cy="0"/>
          </a:xfrm>
          <a:prstGeom prst="line">
            <a:avLst/>
          </a:prstGeom>
          <a:ln w="19050">
            <a:solidFill>
              <a:srgbClr val="6B7A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46520" y="4681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C6884"/>
                </a:solidFill>
                <a:latin typeface="Calibri"/>
                <a:ea typeface="Hiragino Sans"/>
              </a:rPr>
              <a:t>グラフ画像を預ける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10561320" y="2926080"/>
            <a:ext cx="0" cy="1627632"/>
          </a:xfrm>
          <a:prstGeom prst="line">
            <a:avLst/>
          </a:prstGeom>
          <a:ln w="19050">
            <a:solidFill>
              <a:srgbClr val="6B7A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652760" y="361188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C6884"/>
                </a:solidFill>
                <a:latin typeface="Calibri"/>
                <a:ea typeface="Hiragino Sans"/>
              </a:rPr>
              <a:t>画像URL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797296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E4ECFF"/>
          </a:solidFill>
          <a:ln w="15875">
            <a:solidFill>
              <a:srgbClr val="004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742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C6884"/>
                </a:solidFill>
                <a:latin typeface="Calibri"/>
                <a:ea typeface="Hiragino Sans"/>
              </a:rPr>
              <a:t>自分で書いたファイル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01568" y="5797296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FB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85616" y="5742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C6884"/>
                </a:solidFill>
                <a:latin typeface="Calibri"/>
                <a:ea typeface="Hiragino Sans"/>
              </a:rPr>
              <a:t>外部のサービス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41FF"/>
                </a:solidFill>
                <a:latin typeface="Calibri"/>
                <a:ea typeface="Hiragino Sans"/>
              </a:rPr>
              <a:t>03 — ファイル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D"/>
                </a:solidFill>
                <a:latin typeface="Calibri"/>
                <a:ea typeface="Hiragino Sans"/>
              </a:rPr>
              <a:t>処理をする3つのファイル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1672" cy="1243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96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1C0"/>
                </a:solidFill>
                <a:latin typeface="Courier New"/>
                <a:ea typeface="Hiragino Sans"/>
              </a:rPr>
              <a:t>rain_alert.py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8541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6884"/>
                </a:solidFill>
                <a:latin typeface="Calibri"/>
                <a:ea typeface="Hiragino Sans"/>
              </a:rPr>
              <a:t>司令塔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01368"/>
            <a:ext cx="7360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250" b="0" i="0">
                <a:solidFill>
                  <a:srgbClr val="16233D"/>
                </a:solidFill>
                <a:latin typeface="Calibri"/>
                <a:ea typeface="Hiragino Sans"/>
              </a:rPr>
              <a:t>2つのデータ源から雨の強さを取り寄せ、強い方を採用。しきい値（1mm/h・20mm/h）と比べて通知を決め、LINEへ送ります。しきい値もこのファイルの上部にあります。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11091672" cy="1243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369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1C0"/>
                </a:solidFill>
                <a:latin typeface="Courier New"/>
                <a:ea typeface="Hiragino Sans"/>
              </a:rPr>
              <a:t>jma_nowcast.py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0273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6884"/>
                </a:solidFill>
                <a:latin typeface="Calibri"/>
                <a:ea typeface="Hiragino Sans"/>
              </a:rPr>
              <a:t>気象庁担当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218688"/>
            <a:ext cx="7360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250" b="0" i="0">
                <a:solidFill>
                  <a:srgbClr val="16233D"/>
                </a:solidFill>
                <a:latin typeface="Calibri"/>
                <a:ea typeface="Hiragino Sans"/>
              </a:rPr>
              <a:t>気象庁は数値APIを出しておらず、地図の画像しかありません。緯度経度から画像の位置を計算し、ピクセルの色を読んで雨量に変換します。半径約1kmを調べ最大値を採用。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11091672" cy="1243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542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1C0"/>
                </a:solidFill>
                <a:latin typeface="Courier New"/>
                <a:ea typeface="Hiragino Sans"/>
              </a:rPr>
              <a:t>daily_summary.py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0055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6884"/>
                </a:solidFill>
                <a:latin typeface="Calibri"/>
                <a:ea typeface="Hiragino Sans"/>
              </a:rPr>
              <a:t>毎朝担当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636007"/>
            <a:ext cx="7360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250" b="0" i="0">
                <a:solidFill>
                  <a:srgbClr val="16233D"/>
                </a:solidFill>
                <a:latin typeface="Calibri"/>
                <a:ea typeface="Hiragino Sans"/>
              </a:rPr>
              <a:t>24時間ぶんの予報から棒グラフの画像を作り、LINEへ送ります。雨の強さで棒の色が変わり、しきい値の位置には点線が入ります。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41FF"/>
                </a:solidFill>
                <a:latin typeface="Calibri"/>
                <a:ea typeface="Hiragino Sans"/>
              </a:rPr>
              <a:t>03 — ファイル（続き）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D"/>
                </a:solidFill>
                <a:latin typeface="Calibri"/>
                <a:ea typeface="Hiragino Sans"/>
              </a:rPr>
              <a:t>覚えておく／設定するファイル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02152" cy="1755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837943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031C0"/>
                </a:solidFill>
                <a:latin typeface="Courier New"/>
                <a:ea typeface="Hiragino Sans"/>
              </a:rPr>
              <a:t>rain_alert_state.json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16712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alibri"/>
                <a:ea typeface="Hiragino Sans"/>
              </a:rPr>
              <a:t>記憶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78024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16233D"/>
                </a:solidFill>
                <a:latin typeface="Calibri"/>
                <a:ea typeface="Hiragino Sans"/>
              </a:rPr>
              <a:t>前回いつ通知したかだけを書いたメモ。これが無いと同じ雨で何十回も通知が飛びます。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00200"/>
            <a:ext cx="3502152" cy="1755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37943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031C0"/>
                </a:solidFill>
                <a:latin typeface="Courier New"/>
                <a:ea typeface="Hiragino Sans"/>
              </a:rPr>
              <a:t>requirements.txt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6712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alibri"/>
                <a:ea typeface="Hiragino Sans"/>
              </a:rPr>
              <a:t>部品表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78024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16233D"/>
                </a:solidFill>
                <a:latin typeface="Calibri"/>
                <a:ea typeface="Hiragino Sans"/>
              </a:rPr>
              <a:t>使う部品の一覧。requests・Pillow・matplotlib の3つ。実行前にこれを見てそろえます。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600200"/>
            <a:ext cx="3502152" cy="1755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837943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031C0"/>
                </a:solidFill>
                <a:latin typeface="Courier New"/>
                <a:ea typeface="Hiragino Sans"/>
              </a:rPr>
              <a:t>rain_alert.yml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16712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alibri"/>
                <a:ea typeface="Hiragino Sans"/>
              </a:rPr>
              <a:t>時間割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478024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16233D"/>
                </a:solidFill>
                <a:latin typeface="Calibri"/>
                <a:ea typeface="Hiragino Sans"/>
              </a:rPr>
              <a:t>「5分ごとに rain_alert.py を動かして」という、GitHubへの指示書です。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75304"/>
            <a:ext cx="3502152" cy="1755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81304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031C0"/>
                </a:solidFill>
                <a:latin typeface="Courier New"/>
                <a:ea typeface="Hiragino Sans"/>
              </a:rPr>
              <a:t>daily_summary.yml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14223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alibri"/>
                <a:ea typeface="Hiragino Sans"/>
              </a:rPr>
              <a:t>時間割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453128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16233D"/>
                </a:solidFill>
                <a:latin typeface="Calibri"/>
                <a:ea typeface="Hiragino Sans"/>
              </a:rPr>
              <a:t>「毎朝6時に動かして」という指示書。日本語フォントを入れる手順も含みます。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575304"/>
            <a:ext cx="3502152" cy="1755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81304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031C0"/>
                </a:solidFill>
                <a:latin typeface="Courier New"/>
                <a:ea typeface="Hiragino Sans"/>
              </a:rPr>
              <a:t>.env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4223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alibri"/>
                <a:ea typeface="Hiragino Sans"/>
              </a:rPr>
              <a:t>秘密（自分のMacのみ）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53128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16233D"/>
                </a:solidFill>
                <a:latin typeface="Calibri"/>
                <a:ea typeface="Hiragino Sans"/>
              </a:rPr>
              <a:t>トークンと自宅の緯度経度。GitHubには絶対に上げず、クラウドではSecretsに登録します。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3575304"/>
            <a:ext cx="3502152" cy="1755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381304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031C0"/>
                </a:solidFill>
                <a:latin typeface="Courier New"/>
                <a:ea typeface="Hiragino Sans"/>
              </a:rPr>
              <a:t>.gitignore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14223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alibri"/>
                <a:ea typeface="Hiragino Sans"/>
              </a:rPr>
              <a:t>除外リスト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453128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16233D"/>
                </a:solidFill>
                <a:latin typeface="Calibri"/>
                <a:ea typeface="Hiragino Sans"/>
              </a:rPr>
              <a:t>GitHubに上げないファイルの指定。.env を書いておくことで公開事故を防ぎます。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41FF"/>
                </a:solidFill>
                <a:latin typeface="Calibri"/>
                <a:ea typeface="Hiragino Sans"/>
              </a:rPr>
              <a:t>04 — 順番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D"/>
                </a:solidFill>
                <a:latin typeface="Calibri"/>
                <a:ea typeface="Hiragino Sans"/>
              </a:rPr>
              <a:t>動くときの流れ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4924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41FF"/>
                </a:solidFill>
                <a:latin typeface="Courier New"/>
                <a:ea typeface="Hiragino Sans"/>
              </a:rPr>
              <a:t>① 5分ごと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6233D"/>
                </a:solidFill>
                <a:latin typeface="Calibri"/>
                <a:ea typeface="Hiragino Sans"/>
              </a:rPr>
              <a:t>豪雨アラート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97480"/>
            <a:ext cx="365760" cy="365760"/>
          </a:xfrm>
          <a:prstGeom prst="ellipse">
            <a:avLst/>
          </a:prstGeom>
          <a:solidFill>
            <a:srgbClr val="00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GitHubが時間に気づき rain_alert.py を起動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82112"/>
            <a:ext cx="365760" cy="365760"/>
          </a:xfrm>
          <a:prstGeom prst="ellipse">
            <a:avLst/>
          </a:prstGeom>
          <a:solidFill>
            <a:srgbClr val="00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18211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jma_nowcast.py が気象庁の画像から雨量を読む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66744"/>
            <a:ext cx="365760" cy="365760"/>
          </a:xfrm>
          <a:prstGeom prst="ellipse">
            <a:avLst/>
          </a:prstGeom>
          <a:solidFill>
            <a:srgbClr val="00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667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66674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同時に Open-Meteo からも予報を取り寄せる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51376"/>
            <a:ext cx="365760" cy="365760"/>
          </a:xfrm>
          <a:prstGeom prst="ellipse">
            <a:avLst/>
          </a:prstGeom>
          <a:solidFill>
            <a:srgbClr val="00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513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1513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2つのうち強い方を採用（見逃しを減らす）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636008"/>
            <a:ext cx="365760" cy="365760"/>
          </a:xfrm>
          <a:prstGeom prst="ellipse">
            <a:avLst/>
          </a:prstGeom>
          <a:solidFill>
            <a:srgbClr val="00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360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6360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20mm/h以上なら豪雨、1mm/h以上なら雨と判定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120640"/>
            <a:ext cx="365760" cy="365760"/>
          </a:xfrm>
          <a:prstGeom prst="ellipse">
            <a:avLst/>
          </a:prstGeom>
          <a:solidFill>
            <a:srgbClr val="00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1206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前回から時間が空いていればLINEへ送信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1600200"/>
            <a:ext cx="534924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8470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7293"/>
                </a:solidFill>
                <a:latin typeface="Courier New"/>
                <a:ea typeface="Hiragino Sans"/>
              </a:rPr>
              <a:t>② 毎朝 6:00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2121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6233D"/>
                </a:solidFill>
                <a:latin typeface="Calibri"/>
                <a:ea typeface="Hiragino Sans"/>
              </a:rPr>
              <a:t>予報グラフ</a:t>
            </a:r>
          </a:p>
        </p:txBody>
      </p:sp>
      <p:sp>
        <p:nvSpPr>
          <p:cNvPr id="28" name="Oval 27"/>
          <p:cNvSpPr/>
          <p:nvPr/>
        </p:nvSpPr>
        <p:spPr>
          <a:xfrm>
            <a:off x="6656832" y="26974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7183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GitHubが daily_summary.py を起動</a:t>
            </a:r>
          </a:p>
        </p:txBody>
      </p:sp>
      <p:sp>
        <p:nvSpPr>
          <p:cNvPr id="31" name="Oval 30"/>
          <p:cNvSpPr/>
          <p:nvPr/>
        </p:nvSpPr>
        <p:spPr>
          <a:xfrm>
            <a:off x="6656832" y="3182112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31821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3" y="318211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その日24時間ぶんの降水予報を取得</a:t>
            </a:r>
          </a:p>
        </p:txBody>
      </p:sp>
      <p:sp>
        <p:nvSpPr>
          <p:cNvPr id="34" name="Oval 33"/>
          <p:cNvSpPr/>
          <p:nvPr/>
        </p:nvSpPr>
        <p:spPr>
          <a:xfrm>
            <a:off x="6656832" y="3666744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36667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7183" y="366674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雨の強さで色分けした棒グラフを作る</a:t>
            </a:r>
          </a:p>
        </p:txBody>
      </p:sp>
      <p:sp>
        <p:nvSpPr>
          <p:cNvPr id="37" name="Oval 36"/>
          <p:cNvSpPr/>
          <p:nvPr/>
        </p:nvSpPr>
        <p:spPr>
          <a:xfrm>
            <a:off x="6656832" y="4151376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41513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7183" y="41513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画像を imgbb に預けてURLをもらう</a:t>
            </a:r>
          </a:p>
        </p:txBody>
      </p:sp>
      <p:sp>
        <p:nvSpPr>
          <p:cNvPr id="40" name="Oval 39"/>
          <p:cNvSpPr/>
          <p:nvPr/>
        </p:nvSpPr>
        <p:spPr>
          <a:xfrm>
            <a:off x="6656832" y="463600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46360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Hiragino San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3" y="46360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6233D"/>
                </a:solidFill>
                <a:latin typeface="Calibri"/>
                <a:ea typeface="Hiragino Sans"/>
              </a:rPr>
              <a:t>URLと一言をまとめてLINEへ送信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41FF"/>
                </a:solidFill>
                <a:latin typeface="Calibri"/>
                <a:ea typeface="Hiragino Sans"/>
              </a:rPr>
              <a:t>05 — 中身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D"/>
                </a:solidFill>
                <a:latin typeface="Calibri"/>
                <a:ea typeface="Hiragino Sans"/>
              </a:rPr>
              <a:t>色を読んで、雨量に戻す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350" b="0" i="0">
                <a:solidFill>
                  <a:srgbClr val="5C6884"/>
                </a:solidFill>
                <a:latin typeface="Calibri"/>
                <a:ea typeface="Hiragino Sans"/>
              </a:rPr>
              <a:t>気象庁のナウキャストは、雨の強さを色で表した地図として配信されています。jma_nowcast.py は自宅の位置にあたるピクセルの色を読み、この対応表で数値に戻しています。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95728"/>
            <a:ext cx="1298448" cy="960120"/>
          </a:xfrm>
          <a:prstGeom prst="rect">
            <a:avLst/>
          </a:prstGeom>
          <a:solidFill>
            <a:srgbClr val="F2F2FF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C6884"/>
                </a:solidFill>
                <a:latin typeface="Courier New"/>
                <a:ea typeface="Hiragino Sans"/>
              </a:rPr>
              <a:t>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4248" y="2395728"/>
            <a:ext cx="1298448" cy="960120"/>
          </a:xfrm>
          <a:prstGeom prst="rect">
            <a:avLst/>
          </a:prstGeom>
          <a:solidFill>
            <a:srgbClr val="A0D2FF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342900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C6884"/>
                </a:solidFill>
                <a:latin typeface="Courier New"/>
                <a:ea typeface="Hiragino San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82696" y="2395728"/>
            <a:ext cx="1298448" cy="960120"/>
          </a:xfrm>
          <a:prstGeom prst="rect">
            <a:avLst/>
          </a:prstGeom>
          <a:solidFill>
            <a:srgbClr val="218CFF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342900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C6884"/>
                </a:solidFill>
                <a:latin typeface="Courier New"/>
                <a:ea typeface="Hiragino Sans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1144" y="2395728"/>
            <a:ext cx="1298448" cy="960120"/>
          </a:xfrm>
          <a:prstGeom prst="rect">
            <a:avLst/>
          </a:prstGeom>
          <a:solidFill>
            <a:srgbClr val="0041FF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342900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C6884"/>
                </a:solidFill>
                <a:latin typeface="Courier New"/>
                <a:ea typeface="Hiragino Sans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79592" y="2395728"/>
            <a:ext cx="1298448" cy="960120"/>
          </a:xfrm>
          <a:prstGeom prst="rect">
            <a:avLst/>
          </a:prstGeom>
          <a:solidFill>
            <a:srgbClr val="FAF500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592" y="342900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C6884"/>
                </a:solidFill>
                <a:latin typeface="Courier New"/>
                <a:ea typeface="Hiragino Sans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395728"/>
            <a:ext cx="1298448" cy="960120"/>
          </a:xfrm>
          <a:prstGeom prst="rect">
            <a:avLst/>
          </a:prstGeom>
          <a:solidFill>
            <a:srgbClr val="FF9900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342900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C6884"/>
                </a:solidFill>
                <a:latin typeface="Courier New"/>
                <a:ea typeface="Hiragino Sans"/>
              </a:rPr>
              <a:t>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488" y="2395728"/>
            <a:ext cx="1298448" cy="960120"/>
          </a:xfrm>
          <a:prstGeom prst="rect">
            <a:avLst/>
          </a:prstGeom>
          <a:solidFill>
            <a:srgbClr val="FF2800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342900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C6884"/>
                </a:solidFill>
                <a:latin typeface="Courier New"/>
                <a:ea typeface="Hiragino Sans"/>
              </a:rP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74936" y="2395728"/>
            <a:ext cx="1298448" cy="960120"/>
          </a:xfrm>
          <a:prstGeom prst="rect">
            <a:avLst/>
          </a:prstGeom>
          <a:solidFill>
            <a:srgbClr val="B40068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4936" y="342900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C6884"/>
                </a:solidFill>
                <a:latin typeface="Courier New"/>
                <a:ea typeface="Hiragino Sans"/>
              </a:rPr>
              <a:t>80+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6536" y="34290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884"/>
                </a:solidFill>
                <a:latin typeface="Calibri"/>
                <a:ea typeface="Hiragino Sans"/>
              </a:rPr>
              <a:t>mm/h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14800"/>
            <a:ext cx="5120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4370832"/>
            <a:ext cx="274320" cy="274320"/>
          </a:xfrm>
          <a:prstGeom prst="ellipse">
            <a:avLst/>
          </a:prstGeom>
          <a:solidFill>
            <a:srgbClr val="A0D2FF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99032" y="42519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C5FA8"/>
                </a:solidFill>
                <a:latin typeface="Calibri"/>
                <a:ea typeface="Hiragino Sans"/>
              </a:rPr>
              <a:t>1mm/h 以上 →「まもなく雨」を通知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114800"/>
            <a:ext cx="5120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01968" y="4370832"/>
            <a:ext cx="274320" cy="274320"/>
          </a:xfrm>
          <a:prstGeom prst="ellipse">
            <a:avLst/>
          </a:prstGeom>
          <a:solidFill>
            <a:srgbClr val="FAF500"/>
          </a:solidFill>
          <a:ln w="9525">
            <a:solidFill>
              <a:srgbClr val="AFB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42519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9A5B00"/>
                </a:solidFill>
                <a:latin typeface="Calibri"/>
                <a:ea typeface="Hiragino Sans"/>
              </a:rPr>
              <a:t>20mm/h 以上 →「豪雨注意」を通知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12064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6884"/>
                </a:solidFill>
                <a:latin typeface="Calibri"/>
                <a:ea typeface="Hiragino Sans"/>
              </a:rPr>
              <a:t>この資料の配色も、同じ気象庁のスケールから取っています。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41FF"/>
                </a:solidFill>
                <a:latin typeface="Calibri"/>
                <a:ea typeface="Hiragino Sans"/>
              </a:rPr>
              <a:t>06 — 中身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D"/>
                </a:solidFill>
                <a:latin typeface="Calibri"/>
                <a:ea typeface="Hiragino Sans"/>
              </a:rPr>
              <a:t>知っておくと分かりやすい4つのこと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49240" cy="1865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37943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ourier New"/>
                <a:ea typeface="Hiragino Sans"/>
              </a:rPr>
              <a:t>なぜ2つ？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30552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33D"/>
                </a:solidFill>
                <a:latin typeface="Calibri"/>
                <a:ea typeface="Hiragino Sans"/>
              </a:rPr>
              <a:t>データ源を2つ使う理由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32888"/>
            <a:ext cx="4709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5C6884"/>
                </a:solidFill>
                <a:latin typeface="Calibri"/>
                <a:ea typeface="Hiragino Sans"/>
              </a:rPr>
              <a:t>気象庁のナウキャストは細かく速い代わりに、公式APIではありません。将来使えなくなる可能性があるため、Open-Meteoを保険として並べています。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00200"/>
            <a:ext cx="5349240" cy="1865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38544" y="1837943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ourier New"/>
                <a:ea typeface="Hiragino Sans"/>
              </a:rPr>
              <a:t>なぜ間隔をあける？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130552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33D"/>
                </a:solidFill>
                <a:latin typeface="Calibri"/>
                <a:ea typeface="Hiragino Sans"/>
              </a:rPr>
              <a:t>同じ雨で連投しない工夫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532888"/>
            <a:ext cx="4709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5C6884"/>
                </a:solidFill>
                <a:latin typeface="Calibri"/>
                <a:ea typeface="Hiragino Sans"/>
              </a:rPr>
              <a:t>5分ごとに動くので、雨が1時間続けば12回判定されます。一度送ったら一定時間黙る仕組みを入れました。弱い雨と豪雨は別管理です。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85031"/>
            <a:ext cx="5349240" cy="1865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922775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ourier New"/>
                <a:ea typeface="Hiragino Sans"/>
              </a:rPr>
              <a:t>実際にあった不具合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15383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33D"/>
                </a:solidFill>
                <a:latin typeface="Calibri"/>
                <a:ea typeface="Hiragino Sans"/>
              </a:rPr>
              <a:t>時差という落とし穴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617719"/>
            <a:ext cx="4709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5C6884"/>
                </a:solidFill>
                <a:latin typeface="Calibri"/>
                <a:ea typeface="Hiragino Sans"/>
              </a:rPr>
              <a:t>GitHubは世界標準時、天気データは日本時間。そのまま比べて9時間ずれ、雨を全部見逃していました。時刻を日本時間に統一して修正済みです。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685031"/>
            <a:ext cx="5349240" cy="1865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3922775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884"/>
                </a:solidFill>
                <a:latin typeface="Courier New"/>
                <a:ea typeface="Hiragino Sans"/>
              </a:rPr>
              <a:t>なぜ画像を外に置く？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4215383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33D"/>
                </a:solidFill>
                <a:latin typeface="Calibri"/>
                <a:ea typeface="Hiragino Sans"/>
              </a:rPr>
              <a:t>グラフがimgbbを通る理由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4617719"/>
            <a:ext cx="4709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5C6884"/>
                </a:solidFill>
                <a:latin typeface="Calibri"/>
                <a:ea typeface="Hiragino Sans"/>
              </a:rPr>
              <a:t>LINEには画像そのものではなく「画像のある場所（URL）」を伝える決まりです。作ったグラフはURLを持たないため、imgbbに預けます。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41FF"/>
                </a:solidFill>
                <a:latin typeface="Calibri"/>
                <a:ea typeface="Hiragino Sans"/>
              </a:rPr>
              <a:t>07 — 外部サービス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D"/>
                </a:solidFill>
                <a:latin typeface="Calibri"/>
                <a:ea typeface="Hiragino Sans"/>
              </a:rPr>
              <a:t>使っているサービスと費用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27632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513832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Hiragino Sans"/>
                        </a:rPr>
                        <a:t>サービス</a:t>
                      </a:r>
                    </a:p>
                  </a:txBody>
                  <a:tcPr anchor="ctr" marL="128016" marR="128016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Hiragino Sans"/>
                        </a:rPr>
                        <a:t>役割</a:t>
                      </a:r>
                    </a:p>
                  </a:txBody>
                  <a:tcPr anchor="ctr" marL="128016" marR="128016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Hiragino Sans"/>
                        </a:rPr>
                        <a:t>費用</a:t>
                      </a:r>
                    </a:p>
                  </a:txBody>
                  <a:tcPr anchor="ctr" marL="128016" marR="128016">
                    <a:solidFill>
                      <a:srgbClr val="1329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D"/>
                          </a:solidFill>
                          <a:latin typeface="Calibri"/>
                          <a:ea typeface="Hiragino Sans"/>
                        </a:rPr>
                        <a:t>気象庁ナウキャスト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250mメッシュ・5分更新の降水データ（画像形式）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無料・登録不要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D"/>
                          </a:solidFill>
                          <a:latin typeface="Calibri"/>
                          <a:ea typeface="Hiragino Sans"/>
                        </a:rPr>
                        <a:t>Open-Meteo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予報モデルによる降水データ（数値形式）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無料・登録不要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D"/>
                          </a:solidFill>
                          <a:latin typeface="Calibri"/>
                          <a:ea typeface="Hiragino Sans"/>
                        </a:rPr>
                        <a:t>LINE Messaging API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スマホへの通知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無料枠 月200通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D"/>
                          </a:solidFill>
                          <a:latin typeface="Calibri"/>
                          <a:ea typeface="Hiragino Sans"/>
                        </a:rPr>
                        <a:t>imgbb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グラフ画像の置き場所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無料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D"/>
                          </a:solidFill>
                          <a:latin typeface="Calibri"/>
                          <a:ea typeface="Hiragino Sans"/>
                        </a:rPr>
                        <a:t>GitHub Actions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決まった時刻にプログラムを動かすサーバー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C6884"/>
                          </a:solidFill>
                          <a:latin typeface="Calibri"/>
                          <a:ea typeface="Hiragino Sans"/>
                        </a:rPr>
                        <a:t>公開リポジトリなら無制限</a:t>
                      </a:r>
                    </a:p>
                  </a:txBody>
                  <a:tcPr anchor="ctr" marL="128016" marR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663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0">
                <a:solidFill>
                  <a:srgbClr val="5C6884"/>
                </a:solidFill>
                <a:latin typeface="Calibri"/>
                <a:ea typeface="Hiragino Sans"/>
              </a:rPr>
              <a:t>GitHub Actionsは1回の実行を1分単位に切り上げて計上します。5分間隔だと月8,640分に達し、非公開リポジトリの無料枠2,000分では約7日で尽きるため、公開リポジトリに切り替えました。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5780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6884"/>
                </a:solidFill>
                <a:latin typeface="Calibri"/>
                <a:ea typeface="Hiragino Sans"/>
              </a:rPr>
              <a:t>LINE Notify は2025年3月末で終了しているため、後継の Messaging API を使っています。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5897880"/>
            <a:ext cx="3657600" cy="3657600"/>
          </a:xfrm>
          <a:prstGeom prst="ellipse">
            <a:avLst/>
          </a:prstGeom>
          <a:solidFill>
            <a:srgbClr val="13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A0D2FF"/>
                </a:solidFill>
                <a:latin typeface="Calibri"/>
                <a:ea typeface="Hiragino Sans"/>
              </a:rPr>
              <a:t>08 — 注意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  <a:ea typeface="Hiragino Sans"/>
              </a:rPr>
              <a:t>運用するうえで気をつけること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621792" y="1719072"/>
            <a:ext cx="182880" cy="182880"/>
          </a:xfrm>
          <a:prstGeom prst="ellipse">
            <a:avLst/>
          </a:prstGeom>
          <a:solidFill>
            <a:srgbClr val="FF2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91056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  <a:ea typeface="Hiragino Sans"/>
              </a:rPr>
              <a:t>座標をコードに書き戻さない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59105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A0D2FF"/>
                </a:solidFill>
                <a:latin typeface="Calibri"/>
                <a:ea typeface="Hiragino Sans"/>
              </a:rPr>
              <a:t>リポジトリは公開しています。緯度経度は .env とSecretsにだけ。一度コミットすると、消しても履歴に残り続けます。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2660904"/>
            <a:ext cx="182880" cy="182880"/>
          </a:xfrm>
          <a:prstGeom prst="ellipse">
            <a:avLst/>
          </a:prstGeom>
          <a:solidFill>
            <a:srgbClr val="FA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532888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  <a:ea typeface="Hiragino Sans"/>
              </a:rPr>
              <a:t>LINEの無料枠は月200通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532888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A0D2FF"/>
                </a:solidFill>
                <a:latin typeface="Calibri"/>
                <a:ea typeface="Hiragino Sans"/>
              </a:rPr>
              <a:t>毎朝のグラフが月60通を使うため、豪雨アラートに使えるのは月140通ほど。超えるとその月は送れません。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3602736"/>
            <a:ext cx="182880" cy="182880"/>
          </a:xfrm>
          <a:prstGeom prst="ellipse">
            <a:avLst/>
          </a:prstGeom>
          <a:solidFill>
            <a:srgbClr val="A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474720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  <a:ea typeface="Hiragino Sans"/>
              </a:rPr>
              <a:t>実行間隔は5分（3分ではない）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47472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A0D2FF"/>
                </a:solidFill>
                <a:latin typeface="Calibri"/>
                <a:ea typeface="Hiragino Sans"/>
              </a:rPr>
              <a:t>GitHub Actionsの定期実行は最短5分が目安。気象庁のデータ自体が5分更新なので鮮度は落ちていません。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4544568"/>
            <a:ext cx="182880" cy="182880"/>
          </a:xfrm>
          <a:prstGeom prst="ellipse">
            <a:avLst/>
          </a:prstGeom>
          <a:solidFill>
            <a:srgbClr val="A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416551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  <a:ea typeface="Hiragino Sans"/>
              </a:rPr>
              <a:t>通知が数分遅れることがある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416551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A0D2FF"/>
                </a:solidFill>
                <a:latin typeface="Calibri"/>
                <a:ea typeface="Hiragino Sans"/>
              </a:rPr>
              <a:t>GitHub側の混み具合により、決まった時刻から数分ずれることがあります。仕様上避けられません。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" y="5486400"/>
            <a:ext cx="182880" cy="182880"/>
          </a:xfrm>
          <a:prstGeom prst="ellipse">
            <a:avLst/>
          </a:prstGeom>
          <a:solidFill>
            <a:srgbClr val="A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358383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  <a:ea typeface="Hiragino Sans"/>
              </a:rPr>
              <a:t>気象庁側の仕様変更で止まる可能性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358383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 i="0">
                <a:solidFill>
                  <a:srgbClr val="A0D2FF"/>
                </a:solidFill>
                <a:latin typeface="Calibri"/>
                <a:ea typeface="Hiragino Sans"/>
              </a:rPr>
              <a:t>公式APIではないため、突然データが取れなくなり得ます。その場合もOpen-Meteoだけで動き続けます。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